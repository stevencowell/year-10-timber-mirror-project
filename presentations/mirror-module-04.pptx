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e7407a369344db" /><Relationship Type="http://schemas.openxmlformats.org/officeDocument/2006/relationships/extended-properties" Target="/docProps/app.xml" Id="Rbf2c5b5eea3646d8" /><Relationship Type="http://schemas.openxmlformats.org/officeDocument/2006/relationships/officeDocument" Target="/ppt/presentation.xml" Id="R49efaef6f24449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f35acd47e64636"/>
  </p:sldMasterIdLst>
  <p:notesMasterIdLst>
    <p:notesMasterId xmlns:r="http://schemas.openxmlformats.org/officeDocument/2006/relationships" r:id="R74d492b36ea140e7"/>
  </p:notesMasterIdLst>
  <p:sldIdLst>
    <p:sldId xmlns:r="http://schemas.openxmlformats.org/officeDocument/2006/relationships" id="256" r:id="R5324881a29b94037"/>
    <p:sldId xmlns:r="http://schemas.openxmlformats.org/officeDocument/2006/relationships" id="257" r:id="R255b312f10634491"/>
    <p:sldId xmlns:r="http://schemas.openxmlformats.org/officeDocument/2006/relationships" id="258" r:id="R7bbdc24d437f4b82"/>
    <p:sldId xmlns:r="http://schemas.openxmlformats.org/officeDocument/2006/relationships" id="259" r:id="Rd7c355eb8e734a73"/>
    <p:sldId xmlns:r="http://schemas.openxmlformats.org/officeDocument/2006/relationships" id="260" r:id="R9cadd055690141cb"/>
    <p:sldId xmlns:r="http://schemas.openxmlformats.org/officeDocument/2006/relationships" id="261" r:id="R9facf1d1234f49f8"/>
    <p:sldId xmlns:r="http://schemas.openxmlformats.org/officeDocument/2006/relationships" id="262" r:id="Ra69772a9473b426b"/>
    <p:sldId xmlns:r="http://schemas.openxmlformats.org/officeDocument/2006/relationships" id="263" r:id="Rf7764c355fac458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095616532c4d10" /><Relationship Type="http://schemas.openxmlformats.org/officeDocument/2006/relationships/slideMaster" Target="/ppt/slideMasters/slideMaster1.xml" Id="R0bf35acd47e64636" /><Relationship Type="http://schemas.openxmlformats.org/officeDocument/2006/relationships/notesMaster" Target="/ppt/notesMasters/notesMaster1.xml" Id="R74d492b36ea140e7" /><Relationship Type="http://schemas.openxmlformats.org/officeDocument/2006/relationships/presProps" Target="/ppt/presProps.xml" Id="R0bd83abf4eaa44f8" /><Relationship Type="http://schemas.openxmlformats.org/officeDocument/2006/relationships/tableStyles" Target="/ppt/tableStyles.xml" Id="R032dedf8b2ee4e0d" /><Relationship Type="http://schemas.openxmlformats.org/officeDocument/2006/relationships/slide" Target="/ppt/slides/slide1.xml" Id="R5324881a29b94037" /><Relationship Type="http://schemas.openxmlformats.org/officeDocument/2006/relationships/slide" Target="/ppt/slides/slide2.xml" Id="R255b312f10634491" /><Relationship Type="http://schemas.openxmlformats.org/officeDocument/2006/relationships/slide" Target="/ppt/slides/slide3.xml" Id="R7bbdc24d437f4b82" /><Relationship Type="http://schemas.openxmlformats.org/officeDocument/2006/relationships/slide" Target="/ppt/slides/slide4.xml" Id="Rd7c355eb8e734a73" /><Relationship Type="http://schemas.openxmlformats.org/officeDocument/2006/relationships/slide" Target="/ppt/slides/slide5.xml" Id="R9cadd055690141cb" /><Relationship Type="http://schemas.openxmlformats.org/officeDocument/2006/relationships/slide" Target="/ppt/slides/slide6.xml" Id="R9facf1d1234f49f8" /><Relationship Type="http://schemas.openxmlformats.org/officeDocument/2006/relationships/slide" Target="/ppt/slides/slide7.xml" Id="Ra69772a9473b426b" /><Relationship Type="http://schemas.openxmlformats.org/officeDocument/2006/relationships/slide" Target="/ppt/slides/slide8.xml" Id="Rf7764c355fac45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b82b2c0faa4d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2e0b7abdaf456c" /><Relationship Type="http://schemas.openxmlformats.org/officeDocument/2006/relationships/notesMaster" Target="/ppt/notesMasters/notesMaster1.xml" Id="Rd0cd3ed646b4450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ef21ecea5e426c" /><Relationship Type="http://schemas.openxmlformats.org/officeDocument/2006/relationships/notesMaster" Target="/ppt/notesMasters/notesMaster1.xml" Id="Reef316b3e13d47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eada815bc084ecc" /><Relationship Type="http://schemas.openxmlformats.org/officeDocument/2006/relationships/notesMaster" Target="/ppt/notesMasters/notesMaster1.xml" Id="R2a5fffbedc7247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774241c70846e3" /><Relationship Type="http://schemas.openxmlformats.org/officeDocument/2006/relationships/notesMaster" Target="/ppt/notesMasters/notesMaster1.xml" Id="Rbdc409d8c659425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0f6982fed254f78" /><Relationship Type="http://schemas.openxmlformats.org/officeDocument/2006/relationships/notesMaster" Target="/ppt/notesMasters/notesMaster1.xml" Id="R53dfba24c0ef4b8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7460ce527464023" /><Relationship Type="http://schemas.openxmlformats.org/officeDocument/2006/relationships/notesMaster" Target="/ppt/notesMasters/notesMaster1.xml" Id="Rc373708a40bf40c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d1ae96b2de44dca" /><Relationship Type="http://schemas.openxmlformats.org/officeDocument/2006/relationships/notesMaster" Target="/ppt/notesMasters/notesMaster1.xml" Id="R9ac83cbec90048c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b4063f9d6944e4c" /><Relationship Type="http://schemas.openxmlformats.org/officeDocument/2006/relationships/notesMaster" Target="/ppt/notesMasters/notesMaster1.xml" Id="R67666f51200a466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module purpose and connect it to the current project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mirror_theory_joinery.html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the learning sequence without giving check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mirror_theory_joinery.html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Dowel Joint.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mirror_theory_joinery.html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Biscuit Joint.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mirror_theory_joinery.html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Mortise and Tenon.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mirror_theory_joinery.html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prompts for retrieval before students open the interactive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mirror_theory_joinery.html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response process without supplying an answer to a live student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mirror_theory_joinery.html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complete the exit ticket, then return to the website to save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mirror_theory_joinery.html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462fed523b4fe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fde722145c4ec4" /><Relationship Type="http://schemas.openxmlformats.org/officeDocument/2006/relationships/slideLayout" Target="/ppt/slideLayouts/slideLayout1.xml" Id="R640e706fb64e44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0e706fb64e44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f9a814fca74e6e" /><Relationship Type="http://schemas.openxmlformats.org/officeDocument/2006/relationships/image" Target="/ppt/media/image.png" Id="R8fa9c5643c4f4586" /><Relationship Type="http://schemas.openxmlformats.org/officeDocument/2006/relationships/notesSlide" Target="/ppt/notesSlides/notesSlide1.xml" Id="Rcf9489e45e3046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1a653e381a457f" /><Relationship Type="http://schemas.openxmlformats.org/officeDocument/2006/relationships/notesSlide" Target="/ppt/notesSlides/notesSlide2.xml" Id="R0bb4e9f9b21c42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2367df8abe4712" /><Relationship Type="http://schemas.openxmlformats.org/officeDocument/2006/relationships/notesSlide" Target="/ppt/notesSlides/notesSlide3.xml" Id="Re4d12b274e6346b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40954aa19245d3" /><Relationship Type="http://schemas.openxmlformats.org/officeDocument/2006/relationships/notesSlide" Target="/ppt/notesSlides/notesSlide4.xml" Id="R64ccb5b6baaf43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f6f4024e2b4bd8" /><Relationship Type="http://schemas.openxmlformats.org/officeDocument/2006/relationships/notesSlide" Target="/ppt/notesSlides/notesSlide5.xml" Id="R706a7490ae76492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da6c7392314577" /><Relationship Type="http://schemas.openxmlformats.org/officeDocument/2006/relationships/notesSlide" Target="/ppt/notesSlides/notesSlide6.xml" Id="R86a593cec4b442e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88b572adb0474f" /><Relationship Type="http://schemas.openxmlformats.org/officeDocument/2006/relationships/notesSlide" Target="/ppt/notesSlides/notesSlide7.xml" Id="R3c8566ea84b8419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fd8c5579c84f7e" /><Relationship Type="http://schemas.openxmlformats.org/officeDocument/2006/relationships/notesSlide" Target="/ppt/notesSlides/notesSlide8.xml" Id="R60b562991c9f40a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085735-F950-486A-9CDD-AD3B3631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099986-73AA-4CED-9409-153DD125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D74"/>
                </a:solidFill>
              </a:defRPr>
            </a:pPr>
            <a:r>
              <a:rPr sz="1050" b="1">
                <a:solidFill>
                  <a:srgbClr val="2E7D74"/>
                </a:solidFill>
              </a:rPr>
              <a:t>MIRROR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DED4F6-9AD8-4789-A956-94DEDC0C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module–04  ·  1/8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6986B9-0063-4F0D-AC6F-4D1E5F25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191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43B37"/>
                </a:solidFill>
              </a:defRPr>
            </a:pPr>
            <a:r>
              <a:rPr sz="4500" b="1">
                <a:solidFill>
                  <a:srgbClr val="143B37"/>
                </a:solidFill>
              </a:rPr>
              <a:t>How timber parts become a strong, square mirror frame.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ECECFB-A94F-4232-B8EF-6844ED37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35A53"/>
                </a:solidFill>
              </a:defRPr>
            </a:pPr>
            <a:r>
              <a:rPr sz="1800">
                <a:solidFill>
                  <a:srgbClr val="435A53"/>
                </a:solidFill>
              </a:rPr>
              <a:t>module–04 guided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21A77B-C249-47CB-956A-EC6BF7B4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8A4456-D67D-49CB-855C-A5A8E5D3D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3B37"/>
                </a:solidFill>
              </a:defRPr>
            </a:pPr>
            <a:r>
              <a:rPr sz="1650" b="1">
                <a:solidFill>
                  <a:srgbClr val="143B37"/>
                </a:solidFill>
              </a:rPr>
              <a:t>Read the theory. Check your understanding. Save useful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47AFD7-07F5-40E6-996D-E808861A6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90600"/>
            <a:ext cx="3981450" cy="4762500"/>
          </a:xfrm>
          <a:prstGeom xmlns:a="http://schemas.openxmlformats.org/drawingml/2006/main" prst="roundRect">
            <a:avLst>
              <a:gd name="adj" fmla="val 4785"/>
            </a:avLst>
          </a:prstGeom>
          <a:solidFill xmlns:a="http://schemas.openxmlformats.org/drawingml/2006/main">
            <a:srgbClr val="CAE6E1"/>
          </a:solidFill>
          <a:ln xmlns:a="http://schemas.openxmlformats.org/drawingml/2006/main" w="0">
            <a:solidFill>
              <a:srgbClr val="CAE6E1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a9c5643c4f4586"/>
          <a:stretch xmlns:a="http://schemas.openxmlformats.org/drawingml/2006/main"/>
        </p:blipFill>
        <p:spPr>
          <a:xfrm xmlns:a="http://schemas.openxmlformats.org/drawingml/2006/main">
            <a:off x="7658100" y="2133600"/>
            <a:ext cx="3714750" cy="2476500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</p:spTree>
    <p:extLst>
      <p:ext uri="{BB962C8B-B14F-4D97-AF65-F5344CB8AC3E}">
        <p14:creationId xmlns:p14="http://schemas.microsoft.com/office/powerpoint/2010/main" val="19708012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5B84B7-11F6-478A-80EF-CD2F6CF2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7C5519-1E36-48D3-92B9-30F3751E3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D74"/>
                </a:solidFill>
              </a:defRPr>
            </a:pPr>
            <a:r>
              <a:rPr sz="1050" b="1">
                <a:solidFill>
                  <a:srgbClr val="2E7D74"/>
                </a:solidFill>
              </a:rPr>
              <a:t>MIRROR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8E0703-9752-42C9-9FE4-219E2C12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module–04  ·  2/8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D88FC1-ACB8-45A3-94D4-3A7BE775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3B37"/>
                </a:solidFill>
              </a:defRPr>
            </a:pPr>
            <a:r>
              <a:rPr sz="3600" b="1">
                <a:solidFill>
                  <a:srgbClr val="143B37"/>
                </a:solidFill>
              </a:rPr>
              <a:t>What you will 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A785A1-AA8C-42B2-8658-48BA12FD3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35A53"/>
                </a:solidFill>
              </a:defRPr>
            </a:pPr>
            <a:r>
              <a:rPr sz="1650">
                <a:solidFill>
                  <a:srgbClr val="435A53"/>
                </a:solidFill>
              </a:rPr>
              <a:t>Use the module in order. Each idea supports the checks and written evidence that follow.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9CEEFC-05A9-462C-85F2-ADDA7449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C8CBAA-4153-4077-AD2E-7DDAA3D1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BB8C95-7010-4610-BED8-1410BDC2F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81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3B37"/>
                </a:solidFill>
              </a:defRPr>
            </a:pPr>
            <a:r>
              <a:rPr sz="1650" b="1">
                <a:solidFill>
                  <a:srgbClr val="143B37"/>
                </a:solidFill>
              </a:rPr>
              <a:t>Dowel Joint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F2EAFF-8EEF-4E49-8458-411025BC8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14F3AA-D8A3-47EF-8373-B26E640B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86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8D9D6F-8C11-4762-82FB-52C4D488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909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3B37"/>
                </a:solidFill>
              </a:defRPr>
            </a:pPr>
            <a:r>
              <a:rPr sz="1650" b="1">
                <a:solidFill>
                  <a:srgbClr val="143B37"/>
                </a:solidFill>
              </a:rPr>
              <a:t>Biscuit Joint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97156C-2087-4E6F-85F0-C82310D7D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B01245-42CE-45F3-A805-64422C1B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958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4AF985-1896-450B-B267-C0938029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005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3B37"/>
                </a:solidFill>
              </a:defRPr>
            </a:pPr>
            <a:r>
              <a:rPr sz="1650" b="1">
                <a:solidFill>
                  <a:srgbClr val="143B37"/>
                </a:solidFill>
              </a:rPr>
              <a:t>Mortise and Tenon</a:t>
            </a:r>
          </a:p>
        </p:txBody>
      </p:sp>
    </p:spTree>
    <p:extLst>
      <p:ext uri="{BB962C8B-B14F-4D97-AF65-F5344CB8AC3E}">
        <p14:creationId xmlns:p14="http://schemas.microsoft.com/office/powerpoint/2010/main" val="10164449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4FE935-2D8D-4677-A25D-27B68F395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B995DE-1F27-43A8-9783-994359C42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D74"/>
                </a:solidFill>
              </a:defRPr>
            </a:pPr>
            <a:r>
              <a:rPr sz="1050" b="1">
                <a:solidFill>
                  <a:srgbClr val="2E7D74"/>
                </a:solidFill>
              </a:rPr>
              <a:t>MIRROR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05C738-3E5E-4898-B8ED-6B89EE615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module–04  ·  3/8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45BE08-DDEA-423A-882C-48C79BB8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3B37"/>
                </a:solidFill>
              </a:defRPr>
            </a:pPr>
            <a:r>
              <a:rPr sz="3600" b="1">
                <a:solidFill>
                  <a:srgbClr val="143B37"/>
                </a:solidFill>
              </a:rPr>
              <a:t>Dowel Joint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BB0AB2-5697-4D28-ADA7-D5053E60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18406C-E3FC-4486-A1C1-5B7B871D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62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725DFA-7DF5-4F4E-9BB7-77B19D11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3B37"/>
                </a:solidFill>
              </a:defRPr>
            </a:pPr>
            <a:r>
              <a:rPr sz="1650">
                <a:solidFill>
                  <a:srgbClr val="143B37"/>
                </a:solidFill>
              </a:rPr>
              <a:t>How timber parts become a strong, square mirror frame.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3E4977-C115-4FDB-962F-D02B95DF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58449A-C529-468D-93B3-DDCBBBF46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FE2EDB-CE9A-443E-A79F-ABA71155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3B37"/>
                </a:solidFill>
              </a:defRPr>
            </a:pPr>
            <a:r>
              <a:rPr sz="1650">
                <a:solidFill>
                  <a:srgbClr val="143B37"/>
                </a:solidFill>
              </a:rPr>
              <a:t>Joinery is how separate timber pieces become a strong frame.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30FACF-8879-4330-B244-A334AD3B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4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2E8927-A45E-4FE8-974F-488B227E4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48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60C624-CCA5-4F3B-BEB2-D46F05C5A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3B37"/>
                </a:solidFill>
              </a:defRPr>
            </a:pPr>
            <a:r>
              <a:rPr sz="1650">
                <a:solidFill>
                  <a:srgbClr val="143B37"/>
                </a:solidFill>
              </a:rPr>
              <a:t>If joints are inaccurate, the mirror may twist, show gaps or fail when handled.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964C00-C5EC-4C32-9985-474561AAE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7230240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10F6AA-9422-413E-B2CD-F8DB42BF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36EA4D-5BF7-487F-B9D9-8D048A4C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D74"/>
                </a:solidFill>
              </a:defRPr>
            </a:pPr>
            <a:r>
              <a:rPr sz="1050" b="1">
                <a:solidFill>
                  <a:srgbClr val="2E7D74"/>
                </a:solidFill>
              </a:rPr>
              <a:t>MIRROR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1959C7-07F1-483B-A585-789594973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module–04  ·  4/8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6C12F2-F186-42F1-BB17-7BCC67929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3B37"/>
                </a:solidFill>
              </a:defRPr>
            </a:pPr>
            <a:r>
              <a:rPr sz="3600" b="1">
                <a:solidFill>
                  <a:srgbClr val="143B37"/>
                </a:solidFill>
              </a:rPr>
              <a:t>Biscuit Joint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EBB3BD-F4AA-49B0-B616-4F430CB98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0F966B-BBC1-4782-ACB8-78BA0253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62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707699-5372-45FE-BAE3-7CAD8DAC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3B37"/>
                </a:solidFill>
              </a:defRPr>
            </a:pPr>
            <a:r>
              <a:rPr sz="1650">
                <a:solidFill>
                  <a:srgbClr val="143B37"/>
                </a:solidFill>
              </a:rPr>
              <a:t>If joints are inaccurate, the mirror may twist, show gaps or fail when handled.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B17B2C-E230-438F-A273-B23F9EA9D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B3BC24-AF69-47E3-9C82-72839395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CEC706-C570-4F5C-8AAE-2CBBEF53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3B37"/>
                </a:solidFill>
              </a:defRPr>
            </a:pPr>
            <a:r>
              <a:rPr sz="1650">
                <a:solidFill>
                  <a:srgbClr val="143B37"/>
                </a:solidFill>
              </a:rPr>
              <a:t>Dowels are useful when holes are drilled accurately.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3CFCF5-8A8C-44DB-BDF8-29C291A0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4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2A2307-38D5-4A32-8A2F-83532A9F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48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A2F8B0-1519-4AF3-BBA5-625055A2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3B37"/>
                </a:solidFill>
              </a:defRPr>
            </a:pPr>
            <a:r>
              <a:rPr sz="1650">
                <a:solidFill>
                  <a:srgbClr val="143B37"/>
                </a:solidFill>
              </a:rPr>
              <a:t>Poor alignment causes gaps or twisted frames.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75A962-127E-4FEC-A850-25A584CD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211804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2A4BD7-EC75-4CDA-9D1F-FC0364D39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65E5AE-704A-4A8E-82C6-FB652222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D74"/>
                </a:solidFill>
              </a:defRPr>
            </a:pPr>
            <a:r>
              <a:rPr sz="1050" b="1">
                <a:solidFill>
                  <a:srgbClr val="2E7D74"/>
                </a:solidFill>
              </a:rPr>
              <a:t>MIRROR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83C202-2FEB-4D38-99B7-827A2CBEE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module–04  ·  5/8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97B9E4-388A-4802-B2B3-284395B38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3B37"/>
                </a:solidFill>
              </a:defRPr>
            </a:pPr>
            <a:r>
              <a:rPr sz="3600" b="1">
                <a:solidFill>
                  <a:srgbClr val="143B37"/>
                </a:solidFill>
              </a:rPr>
              <a:t>Mortise and Tenon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8A6F1D-23B5-4D7B-BAD4-FE683341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236208-3876-468D-957E-C1DC2621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62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527E73-4F93-4306-BA31-609E72F5B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3B37"/>
                </a:solidFill>
              </a:defRPr>
            </a:pPr>
            <a:r>
              <a:rPr sz="1650">
                <a:solidFill>
                  <a:srgbClr val="143B37"/>
                </a:solidFill>
              </a:rPr>
              <a:t>Biscuit joints are quicker but not usually as strong as a well-made mortise and tenon.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D41A43-3DFA-47B7-90FA-F6BD43340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E31849-CA43-406B-A315-8B4E2F05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118F23-E5AE-416B-8C86-61DC7A77E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3B37"/>
                </a:solidFill>
              </a:defRPr>
            </a:pPr>
            <a:r>
              <a:rPr sz="1650">
                <a:solidFill>
                  <a:srgbClr val="143B37"/>
                </a:solidFill>
              </a:rPr>
              <a:t>A tenon fits into a matching mortise to create a strong frame joint.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6F8B2E-2CFB-4238-BCD3-3DC11003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4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7E83C1-77DA-482B-BD40-C5375389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48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08F72C-1E42-4AEE-AB4A-FAA954E1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3B37"/>
                </a:solidFill>
              </a:defRPr>
            </a:pPr>
            <a:r>
              <a:rPr sz="1650">
                <a:solidFill>
                  <a:srgbClr val="143B37"/>
                </a:solidFill>
              </a:rPr>
              <a:t>The shoulders should close neatly, the tenon should fit firmly, and the joint must be tested before glue.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CB86FE-16CF-4E90-AEFE-3AA0BA7D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15208775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06FFEF-9B76-4CEE-9CD5-F9AC7C9DB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E92687-1206-4FF5-A2CE-5A0413C3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D74"/>
                </a:solidFill>
              </a:defRPr>
            </a:pPr>
            <a:r>
              <a:rPr sz="1050" b="1">
                <a:solidFill>
                  <a:srgbClr val="2E7D74"/>
                </a:solidFill>
              </a:rPr>
              <a:t>MIRROR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C8D2AB-3C5C-46D7-A2AD-8B620532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module–04  ·  6/8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B29791-CF82-4B7E-A219-EE243DC4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3B37"/>
                </a:solidFill>
              </a:defRPr>
            </a:pPr>
            <a:r>
              <a:rPr sz="3600" b="1">
                <a:solidFill>
                  <a:srgbClr val="143B37"/>
                </a:solidFill>
              </a:rPr>
              <a:t>Pause and check your understanding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C50238-1C0B-44BB-BDE4-6C264F53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E7D74"/>
                </a:solidFill>
              </a:defRPr>
            </a:pPr>
            <a:r>
              <a:rPr sz="1575" b="1">
                <a:solidFill>
                  <a:srgbClr val="2E7D74"/>
                </a:solidFill>
              </a:rPr>
              <a:t>What is the controlling idea?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F994E1-F155-452A-994F-D990527A4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3B37"/>
                </a:solidFill>
              </a:defRPr>
            </a:pPr>
            <a:r>
              <a:rPr sz="1875" b="1">
                <a:solidFill>
                  <a:srgbClr val="143B37"/>
                </a:solidFill>
              </a:rPr>
              <a:t>Dowel Joint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C29A4E-48BE-4210-945F-1FD018BB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E7D74"/>
                </a:solidFill>
              </a:defRPr>
            </a:pPr>
            <a:r>
              <a:rPr sz="1575" b="1">
                <a:solidFill>
                  <a:srgbClr val="2E7D74"/>
                </a:solidFill>
              </a:rPr>
              <a:t>Which check would prevent a mistake?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A66101-CA80-434E-A4C6-223691ED3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3B37"/>
                </a:solidFill>
              </a:defRPr>
            </a:pPr>
            <a:r>
              <a:rPr sz="1875" b="1">
                <a:solidFill>
                  <a:srgbClr val="143B37"/>
                </a:solidFill>
              </a:rPr>
              <a:t>Biscuit Joint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0C09D2-4474-4D36-8B84-09CC6B2C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E7D74"/>
                </a:solidFill>
              </a:defRPr>
            </a:pPr>
            <a:r>
              <a:rPr sz="1575" b="1">
                <a:solidFill>
                  <a:srgbClr val="2E7D74"/>
                </a:solidFill>
              </a:rPr>
              <a:t>What evidence would show your decision?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32449B-AF71-4E2A-AB3B-1E8D1D76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3B37"/>
                </a:solidFill>
              </a:defRPr>
            </a:pPr>
            <a:r>
              <a:rPr sz="1875" b="1">
                <a:solidFill>
                  <a:srgbClr val="143B37"/>
                </a:solidFill>
              </a:rPr>
              <a:t>Mortise and Tenon</a:t>
            </a:r>
          </a:p>
        </p:txBody>
      </p:sp>
    </p:spTree>
    <p:extLst>
      <p:ext uri="{BB962C8B-B14F-4D97-AF65-F5344CB8AC3E}">
        <p14:creationId xmlns:p14="http://schemas.microsoft.com/office/powerpoint/2010/main" val="2686910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FC8658-D75D-4514-842F-DBCB5F6B1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152265-1601-4BBD-B44B-BE396767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D74"/>
                </a:solidFill>
              </a:defRPr>
            </a:pPr>
            <a:r>
              <a:rPr sz="1050" b="1">
                <a:solidFill>
                  <a:srgbClr val="2E7D74"/>
                </a:solidFill>
              </a:rPr>
              <a:t>MIRROR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38E9F4-8325-420D-A6A5-541C2A1E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module–04  ·  7/8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9174FC-2C6C-4708-8711-F4EC3648A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3B37"/>
                </a:solidFill>
              </a:defRPr>
            </a:pPr>
            <a:r>
              <a:rPr sz="3600" b="1">
                <a:solidFill>
                  <a:srgbClr val="143B37"/>
                </a:solidFill>
              </a:rPr>
              <a:t>Build a stronger written response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17556B-2F97-454E-9675-E97550324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E7D74"/>
                </a:solidFill>
              </a:defRPr>
            </a:pPr>
            <a:r>
              <a:rPr sz="2100" b="1">
                <a:solidFill>
                  <a:srgbClr val="2E7D74"/>
                </a:solidFill>
              </a:rPr>
              <a:t>Read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BF90B6-9461-40C2-9FA0-72604777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050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43B37"/>
                </a:solidFill>
              </a:defRPr>
            </a:pPr>
            <a:r>
              <a:rPr sz="1725">
                <a:solidFill>
                  <a:srgbClr val="143B37"/>
                </a:solidFill>
              </a:rPr>
              <a:t>Underline the command word and the project detail.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16DADC-2CB2-480C-B063-A414BD1B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E6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F7D3B5-641A-4DDE-8824-5DA6B34A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E7D74"/>
                </a:solidFill>
              </a:defRPr>
            </a:pPr>
            <a:r>
              <a:rPr sz="2100" b="1">
                <a:solidFill>
                  <a:srgbClr val="2E7D74"/>
                </a:solidFill>
              </a:rPr>
              <a:t>Select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3B4FA8-63A1-4AD6-83BC-DFB6827D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9527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43B37"/>
                </a:solidFill>
              </a:defRPr>
            </a:pPr>
            <a:r>
              <a:rPr sz="1725">
                <a:solidFill>
                  <a:srgbClr val="143B37"/>
                </a:solidFill>
              </a:rPr>
              <a:t>Return to the exact theory section and choose relevant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93F039-AC52-4FE8-AC21-A18460C5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E6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B79FCA-5C96-4616-84FD-C1F92EA6E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E7D74"/>
                </a:solidFill>
              </a:defRPr>
            </a:pPr>
            <a:r>
              <a:rPr sz="2100" b="1">
                <a:solidFill>
                  <a:srgbClr val="2E7D74"/>
                </a:solidFill>
              </a:rPr>
              <a:t>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52D664-E208-46BB-B84B-7D7458C7F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005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43B37"/>
                </a:solidFill>
              </a:defRPr>
            </a:pPr>
            <a:r>
              <a:rPr sz="1725">
                <a:solidFill>
                  <a:srgbClr val="143B37"/>
                </a:solidFill>
              </a:rPr>
              <a:t>Connect the decision, reason and likely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47751B-487C-487D-8AAB-7E8847687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E6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22EB78-0907-4B9E-917B-48854A10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292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E7D74"/>
                </a:solidFill>
              </a:defRPr>
            </a:pPr>
            <a:r>
              <a:rPr sz="2100" b="1">
                <a:solidFill>
                  <a:srgbClr val="2E7D74"/>
                </a:solidFill>
              </a:rPr>
              <a:t>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1B0C35-EA6E-47F1-829F-E551826C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482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43B37"/>
                </a:solidFill>
              </a:defRPr>
            </a:pPr>
            <a:r>
              <a:rPr sz="1725">
                <a:solidFill>
                  <a:srgbClr val="143B37"/>
                </a:solidFill>
              </a:rPr>
              <a:t>Make sure the response answers the question and stays source-accurate.</a:t>
            </a:r>
          </a:p>
        </p:txBody>
      </p:sp>
    </p:spTree>
    <p:extLst>
      <p:ext uri="{BB962C8B-B14F-4D97-AF65-F5344CB8AC3E}">
        <p14:creationId xmlns:p14="http://schemas.microsoft.com/office/powerpoint/2010/main" val="18702044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5299EE-9897-4AA9-855F-3F069DD8B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5B9046-0F94-40F4-BA86-307CCC113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D74"/>
                </a:solidFill>
              </a:defRPr>
            </a:pPr>
            <a:r>
              <a:rPr sz="1050" b="1">
                <a:solidFill>
                  <a:srgbClr val="2E7D74"/>
                </a:solidFill>
              </a:rPr>
              <a:t>MIRROR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DC6744-46AC-4191-B63C-AB892CFA1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module–04  ·  8/8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F6E5E0-5D40-4FBC-A166-49A7580CE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666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43B37"/>
                </a:solidFill>
              </a:defRPr>
            </a:pPr>
            <a:r>
              <a:rPr sz="4500" b="1">
                <a:solidFill>
                  <a:srgbClr val="143B37"/>
                </a:solidFill>
              </a:rPr>
              <a:t>Exit ticket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0C8223-E33F-41A4-8E46-1B14F82E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35A53"/>
                </a:solidFill>
              </a:defRPr>
            </a:pPr>
            <a:r>
              <a:rPr sz="1725">
                <a:solidFill>
                  <a:srgbClr val="435A53"/>
                </a:solidFill>
              </a:rPr>
              <a:t>Before you finish this module, answer these in your own words: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12E0C0-5002-4DC3-9CDA-0DD8228A0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E6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CAC6BB-57AD-4B3E-B9D5-9C3A0B39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3B37"/>
                </a:solidFill>
              </a:defRPr>
            </a:pPr>
            <a:r>
              <a:rPr sz="1650" b="1">
                <a:solidFill>
                  <a:srgbClr val="143B37"/>
                </a:solidFill>
              </a:rPr>
              <a:t>1. One idea I can now explain: Dowel Joint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0F92FF-1864-44C1-B1A7-61DDB5C7F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E6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410EEB-C85D-4184-991B-DCE8E8F49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3B37"/>
                </a:solidFill>
              </a:defRPr>
            </a:pPr>
            <a:r>
              <a:rPr sz="1650" b="0">
                <a:solidFill>
                  <a:srgbClr val="143B37"/>
                </a:solidFill>
              </a:rPr>
              <a:t>2. One practical check I must remember before the next stage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76204-3BF5-472B-8C1F-F2022DF6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E6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41AB7A-5DB5-4E8E-AF34-9671E6826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006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3B37"/>
                </a:solidFill>
              </a:defRPr>
            </a:pPr>
            <a:r>
              <a:rPr sz="1650" b="0">
                <a:solidFill>
                  <a:srgbClr val="143B37"/>
                </a:solidFill>
              </a:rPr>
              <a:t>3. One piece of evidence I should save or improve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F727FD-3D78-48F5-A38C-052DE537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Return to the module page to complete the checks, written response and folio evidence.</a:t>
            </a:r>
          </a:p>
        </p:txBody>
      </p:sp>
    </p:spTree>
    <p:extLst>
      <p:ext uri="{BB962C8B-B14F-4D97-AF65-F5344CB8AC3E}">
        <p14:creationId xmlns:p14="http://schemas.microsoft.com/office/powerpoint/2010/main" val="3503797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2026-08-16T02:12:49.8880000Z</dcterms:created>
  <dcterms:modified xsi:type="dcterms:W3CDTF">2026-08-16T02:12:49.8880000Z</dcterms:modified>
</coreProperties>
</file>